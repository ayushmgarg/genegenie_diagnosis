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3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011680"/>
            <a:ext cx="2926080" cy="2926080"/>
          </a:xfrm>
          <a:prstGeom prst="ellipse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2487168" y="10058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Disease Intelligence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12,671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30723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Diseases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GB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34640" y="30723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6360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Sources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66360" y="30723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MPSTME  |  ML Project  |  Ayush Garg (B143) | Tanay Chaplot (B146) | Achintya </a:t>
            </a:r>
            <a:r>
              <a:rPr lang="en-US" sz="1000">
                <a:solidFill>
                  <a:srgbClr val="C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(B117) </a:t>
            </a:r>
            <a:r>
              <a:rPr lang="en-US" sz="1000" dirty="0">
                <a:solidFill>
                  <a:srgbClr val="C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Rare Disease Diagnosis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411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356616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51760" cy="640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430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7,000+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Diseases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2084832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doctors see fewer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5 rare disease patients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entire career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356616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5176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1430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Years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64992" y="2084832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from first symptom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correct diagnosis in rare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disease patients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51760" cy="356616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60120"/>
            <a:ext cx="26517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1430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Misdiagnosed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99632" y="2084832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receive incorrect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before the correct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finally identified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28090">
              <a:alpha val="2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GeneGenie uses ML to cut diagnosis time from years to seconds — across 12,671 rare diseases.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3 Core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411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68680"/>
            <a:ext cx="269748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868680"/>
            <a:ext cx="269748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5488" y="13533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Classifier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" y="2011680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965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" y="254203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4963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Logistic Reg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" y="307238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026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diseases, 426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" y="360273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5570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 Top-1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868680"/>
            <a:ext cx="269748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868680"/>
            <a:ext cx="269748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8961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328416" y="13533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64992" y="201168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1965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9,801 nodes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64992" y="254203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24963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edges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64992" y="307238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026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SVD embeddings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4992" y="360273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35570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Pred AUC 99.05%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53328" y="868680"/>
            <a:ext cx="269748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53328" y="868680"/>
            <a:ext cx="2697480" cy="9601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8961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81344" y="13533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Engine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2011680"/>
            <a:ext cx="109728" cy="109728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1965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13,484 docs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2542032"/>
            <a:ext cx="109728" cy="109728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4963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 direct lookup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072384"/>
            <a:ext cx="109728" cy="109728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026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12,671 diseases covered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3602736"/>
            <a:ext cx="109728" cy="109728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5570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Full-corpus search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7472" y="477316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HPO symptom codes   ──►   Diagnosis + Similar diseases + Novel gene links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33 Raw Files, 5.7 GB Processed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411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32688"/>
            <a:ext cx="269748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32688"/>
            <a:ext cx="45720" cy="1783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3385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447K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12064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 JAX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97510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gene-HPO edges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32688"/>
            <a:ext cx="269748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32688"/>
            <a:ext cx="45720" cy="1783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13385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GB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64992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97510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18,502 genes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932688"/>
            <a:ext cx="269748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3328" y="932688"/>
            <a:ext cx="45720" cy="1783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13385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11,456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Orphanet XML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97510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diseases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944368"/>
            <a:ext cx="269748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944368"/>
            <a:ext cx="45720" cy="1783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1455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26,724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12064" y="3730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" y="398678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entries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44368"/>
            <a:ext cx="269748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44368"/>
            <a:ext cx="45720" cy="1783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1455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4,553×6,178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364992" y="3730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Attr Matrix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64992" y="398678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53328" y="2944368"/>
            <a:ext cx="269748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2944368"/>
            <a:ext cx="45720" cy="1783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1455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1,515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217920" y="3730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BabySeq S1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398678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genes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" y="475488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gnomAD v4.1  |  gene_similarity_matrix  |  kg.csv (8.1M rows)  |  NCBI gene_info  |  mim2gene  |  morbidmap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— What and Why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411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0"/>
            <a:ext cx="269748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058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" y="1371600"/>
            <a:ext cx="2423160" cy="256032"/>
          </a:xfrm>
          <a:prstGeom prst="rect">
            <a:avLst/>
          </a:prstGeom>
          <a:solidFill>
            <a:srgbClr val="00A896">
              <a:alpha val="1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807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Classifier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7373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high-dimensional binary data. Stable majority vote from 150 trees. Gives SHAP explainability — critical for medical AI.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3246120"/>
            <a:ext cx="2423160" cy="1389888"/>
          </a:xfrm>
          <a:prstGeom prst="rect">
            <a:avLst/>
          </a:prstGeom>
          <a:solidFill>
            <a:srgbClr val="EBF2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33375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84632" y="39867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69748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14400"/>
            <a:ext cx="2697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058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7560" y="1371600"/>
            <a:ext cx="2423160" cy="256032"/>
          </a:xfrm>
          <a:prstGeom prst="rect">
            <a:avLst/>
          </a:prstGeom>
          <a:solidFill>
            <a:srgbClr val="028090">
              <a:alpha val="12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3807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Classifier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17373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trees built sequentially, each correcting previous errors. Strong comparison baseline.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246120"/>
            <a:ext cx="2423160" cy="1389888"/>
          </a:xfrm>
          <a:prstGeom prst="rect">
            <a:avLst/>
          </a:prstGeom>
          <a:solidFill>
            <a:srgbClr val="EBF2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3375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94.88%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337560" y="39867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53328" y="914400"/>
            <a:ext cx="269748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53328" y="914400"/>
            <a:ext cx="2697480" cy="54864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10058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0488" y="1371600"/>
            <a:ext cx="2423160" cy="256032"/>
          </a:xfrm>
          <a:prstGeom prst="rect">
            <a:avLst/>
          </a:prstGeom>
          <a:solidFill>
            <a:srgbClr val="F18F01">
              <a:alpha val="12000"/>
            </a:srgbClr>
          </a:solidFill>
          <a:ln w="6350">
            <a:solidFill>
              <a:srgbClr val="F18F0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13807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Link Predictor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90488" y="17373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proves disease-HPO signal is largely linearly separable. Also used as link predictor on KG embeddings.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90488" y="3246120"/>
            <a:ext cx="2423160" cy="1389888"/>
          </a:xfrm>
          <a:prstGeom prst="rect">
            <a:avLst/>
          </a:prstGeom>
          <a:solidFill>
            <a:srgbClr val="EBF2FB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0488" y="333756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92.13%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190488" y="39867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Classifier — 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411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0"/>
            <a:ext cx="4023360" cy="3977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45720" cy="3977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Accuracy Was Calculated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Load all 12,671 diseases from master table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Select top-500 by HPO phenotype coverage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Per disease: generate 20 augmented patient samples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Each sample = random 35-75% of textbook HPOs + noise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3467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Total: 8,002 training samples across 500 diseases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822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Train/test split 80/20 at disease level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297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Test: 1,601 samples. Correct #1: 1,584 = 98.94%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20116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14400"/>
            <a:ext cx="20116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058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914400"/>
            <a:ext cx="20116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914400"/>
            <a:ext cx="20116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0058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1228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194560"/>
            <a:ext cx="20116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194560"/>
            <a:ext cx="20116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2860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99.88%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66344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2194560"/>
            <a:ext cx="20116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0840" y="2194560"/>
            <a:ext cx="20116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22860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1228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474720"/>
            <a:ext cx="20116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3474720"/>
            <a:ext cx="20116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5661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96.21%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66344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3474720"/>
            <a:ext cx="2011680" cy="1170432"/>
          </a:xfrm>
          <a:prstGeom prst="rect">
            <a:avLst/>
          </a:prstGeom>
          <a:solidFill>
            <a:srgbClr val="FFF5E0"/>
          </a:solidFill>
          <a:ln w="19050">
            <a:solidFill>
              <a:srgbClr val="F18F0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20840" y="3474720"/>
            <a:ext cx="2011680" cy="5029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35661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0%*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81228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26280" y="477316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GroupKFold 0% = expected. Proves no data leakage. Model cannot predict unseen disease classes by design.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 Features Per Patient — What Goes Into the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411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5950039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97511" y="960120"/>
            <a:ext cx="257835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55346" y="960120"/>
            <a:ext cx="1983346" cy="47548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8693" y="960120"/>
            <a:ext cx="99167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7860" y="960120"/>
            <a:ext cx="99167" cy="47548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37028" y="960120"/>
            <a:ext cx="59500" cy="475488"/>
          </a:xfrm>
          <a:prstGeom prst="rect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664208"/>
            <a:ext cx="269748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664208"/>
            <a:ext cx="45720" cy="14447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1801368"/>
            <a:ext cx="457200" cy="457200"/>
          </a:xfrm>
          <a:prstGeom prst="ellipse">
            <a:avLst/>
          </a:prstGeom>
          <a:solidFill>
            <a:srgbClr val="00A896">
              <a:alpha val="1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4984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" y="2167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presence/absence of top-300 Human Phenotype Ontology symptom codes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664208"/>
            <a:ext cx="269748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664208"/>
            <a:ext cx="45720" cy="14447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1801368"/>
            <a:ext cx="457200" cy="457200"/>
          </a:xfrm>
          <a:prstGeom prst="ellipse">
            <a:avLst/>
          </a:prstGeom>
          <a:solidFill>
            <a:srgbClr val="028090">
              <a:alpha val="1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67912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 Panel Scores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2167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activation score per clinical panel (SEIZ, HYPOTO, DERM, CHD, CM...)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53328" y="1664208"/>
            <a:ext cx="269748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53328" y="1664208"/>
            <a:ext cx="45720" cy="14447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0488" y="1801368"/>
            <a:ext cx="457200" cy="457200"/>
          </a:xfrm>
          <a:prstGeom prst="ellipse">
            <a:avLst/>
          </a:prstGeom>
          <a:solidFill>
            <a:srgbClr val="F18F01">
              <a:alpha val="15000"/>
            </a:srgbClr>
          </a:solidFill>
          <a:ln w="6350">
            <a:solidFill>
              <a:srgbClr val="F18F0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Attributes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2167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Gene×phenotype co-occurrence from 4,553 × 6,178 attribute matrix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3264408"/>
            <a:ext cx="269748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264408"/>
            <a:ext cx="45720" cy="14447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" y="3401568"/>
            <a:ext cx="457200" cy="457200"/>
          </a:xfrm>
          <a:prstGeom prst="ellipse">
            <a:avLst/>
          </a:prstGeom>
          <a:solidFill>
            <a:srgbClr val="E63946">
              <a:alpha val="15000"/>
            </a:srgbClr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14984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 Features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 variant counts, review stars, clinical actionability per gene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0" y="3264408"/>
            <a:ext cx="269748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3264408"/>
            <a:ext cx="45720" cy="14447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37560" y="3401568"/>
            <a:ext cx="457200" cy="457200"/>
          </a:xfrm>
          <a:prstGeom prst="ellipse">
            <a:avLst/>
          </a:prstGeom>
          <a:solidFill>
            <a:srgbClr val="7B2D8B">
              <a:alpha val="15000"/>
            </a:srgbClr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867912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BabySeq Features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64992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score, penetrance score, category score, actionability index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53328" y="3264408"/>
            <a:ext cx="269748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53328" y="3264408"/>
            <a:ext cx="45720" cy="1444752"/>
          </a:xfrm>
          <a:prstGeom prst="rect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90488" y="3401568"/>
            <a:ext cx="457200" cy="457200"/>
          </a:xfrm>
          <a:prstGeom prst="ellipse">
            <a:avLst/>
          </a:prstGeom>
          <a:solidFill>
            <a:srgbClr val="6B7FA3">
              <a:alpha val="15000"/>
            </a:srgbClr>
          </a:solidFill>
          <a:ln w="6350">
            <a:solidFill>
              <a:srgbClr val="6B7F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0488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72084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Features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17920" y="37673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HPO count, disease HPO density, associated gene count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— Biological Network + Link Prediction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411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2011680" cy="1115568"/>
          </a:xfrm>
          <a:prstGeom prst="rect">
            <a:avLst/>
          </a:prstGeom>
          <a:solidFill>
            <a:srgbClr val="101E33"/>
          </a:solidFill>
          <a:ln w="12700">
            <a:solidFill>
              <a:srgbClr val="1E38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20116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1636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960120"/>
            <a:ext cx="2011680" cy="1115568"/>
          </a:xfrm>
          <a:prstGeom prst="rect">
            <a:avLst/>
          </a:prstGeom>
          <a:solidFill>
            <a:srgbClr val="101E33"/>
          </a:solidFill>
          <a:ln w="12700">
            <a:solidFill>
              <a:srgbClr val="1E38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960120"/>
            <a:ext cx="20116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87752" y="1636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221992"/>
            <a:ext cx="2011680" cy="1115568"/>
          </a:xfrm>
          <a:prstGeom prst="rect">
            <a:avLst/>
          </a:prstGeom>
          <a:solidFill>
            <a:srgbClr val="101E33"/>
          </a:solidFill>
          <a:ln w="12700">
            <a:solidFill>
              <a:srgbClr val="1E38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221992"/>
            <a:ext cx="20116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134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1,879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8912" y="2898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nodes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96312" y="2221992"/>
            <a:ext cx="2011680" cy="1115568"/>
          </a:xfrm>
          <a:prstGeom prst="rect">
            <a:avLst/>
          </a:prstGeom>
          <a:solidFill>
            <a:srgbClr val="101E33"/>
          </a:solidFill>
          <a:ln w="12700">
            <a:solidFill>
              <a:srgbClr val="1E38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2221992"/>
            <a:ext cx="20116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23134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7,922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587752" y="2898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 nodes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45152" y="960120"/>
            <a:ext cx="4133088" cy="3931920"/>
          </a:xfrm>
          <a:prstGeom prst="rect">
            <a:avLst/>
          </a:prstGeom>
          <a:solidFill>
            <a:srgbClr val="101E33"/>
          </a:solidFill>
          <a:ln w="12700">
            <a:solidFill>
              <a:srgbClr val="1E38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1051560"/>
            <a:ext cx="3877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73168" y="156362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508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SVD Embeddings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47488" y="17739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 normalized → top-64 eigenvectors → each node becomes a 64-dim vector encoding its graph position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73168" y="238658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331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 Product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47488" y="25968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gene-disease pair: feature = embed_u * embed_v (element-wise) → 64-dim feature vector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73168" y="320954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154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47488" y="34198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Hadamard product as real edge (1) or random non-edge (0). Trained on 30K real + 30K random pairs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73168" y="4032504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3977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AUC 99.05%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47488" y="42428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separation of true biological links from random pairs. Top 200 predicted novel links exported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7472" y="3493008"/>
            <a:ext cx="4133088" cy="1399032"/>
          </a:xfrm>
          <a:prstGeom prst="rect">
            <a:avLst/>
          </a:prstGeom>
          <a:solidFill>
            <a:srgbClr val="101E33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56616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Relatedness — Shared HPO Neighbours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" y="3858768"/>
            <a:ext cx="3877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vs BRCA2:  143 shared HPO phenotype nodes  |  Jaccard = 0.78  = STRONGLY RELATED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ACTB   vs NAT2 :    0 shared HPO phenotype nodes  |  Jaccard = 0.00  = UNRELATED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Contributions — What No Other Tool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411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0"/>
            <a:ext cx="4114800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45720" cy="19019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024128"/>
            <a:ext cx="384048" cy="292608"/>
          </a:xfrm>
          <a:prstGeom prst="rect">
            <a:avLst/>
          </a:prstGeom>
          <a:solidFill>
            <a:srgbClr val="00A896">
              <a:alpha val="1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241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0976" y="10241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Penetrance-Adjusted Similarity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1408176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tools count symptom overlap. We weight by penetrance (how likely a patient with this gene shows the disease) and ClinGen evidence grade.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cosine_sim × penetrance_factor × evidence_weight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45720" cy="19019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91456" y="1024128"/>
            <a:ext cx="384048" cy="292608"/>
          </a:xfrm>
          <a:prstGeom prst="rect">
            <a:avLst/>
          </a:prstGeom>
          <a:solidFill>
            <a:srgbClr val="028090">
              <a:alpha val="1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0241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66944" y="10241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 Panel Activation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1408176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clinical genetic panels (SEIZ, HYPOTO, DERM, HL, CHD, CM, IEM, REN...) mapped to HPO terms. System automatically detects which panel to order from patient symptoms.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971800"/>
            <a:ext cx="4114800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971800"/>
            <a:ext cx="45720" cy="19019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3081528"/>
            <a:ext cx="384048" cy="292608"/>
          </a:xfrm>
          <a:prstGeom prst="rect">
            <a:avLst/>
          </a:prstGeom>
          <a:solidFill>
            <a:srgbClr val="F18F01">
              <a:alpha val="15000"/>
            </a:srgbClr>
          </a:solidFill>
          <a:ln w="6350">
            <a:solidFill>
              <a:srgbClr val="F18F0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0815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50976" y="30815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Actionability Index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" y="3465576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BabySeq Table S1 (1,515 genes) + ACMG SF v3.2 + gnomAD pLI/LOEUF + PanelApp green-tier into a single 0–1 actionability score per gene.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4114800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71800"/>
            <a:ext cx="45720" cy="19019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91456" y="3081528"/>
            <a:ext cx="384048" cy="292608"/>
          </a:xfrm>
          <a:prstGeom prst="rect">
            <a:avLst/>
          </a:prstGeom>
          <a:solidFill>
            <a:srgbClr val="7B2D8B">
              <a:alpha val="15000"/>
            </a:srgbClr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0815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66944" y="30815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Landscape Map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8032" y="3465576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projection of 500 diseases using Jaccard HPO similarity + Louvain community detection. Metabolic, neurological, skeletal, cardiac clusters emerge automatically.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694944"/>
            <a:ext cx="411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0"/>
            <a:ext cx="2697480" cy="1719072"/>
          </a:xfrm>
          <a:prstGeom prst="rect">
            <a:avLst/>
          </a:prstGeom>
          <a:solidFill>
            <a:srgbClr val="101E33"/>
          </a:solidFill>
          <a:ln w="12700">
            <a:solidFill>
              <a:srgbClr val="1E38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14400"/>
            <a:ext cx="2697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Top-1 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103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1,601 test samples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97480" cy="1719072"/>
          </a:xfrm>
          <a:prstGeom prst="rect">
            <a:avLst/>
          </a:prstGeom>
          <a:solidFill>
            <a:srgbClr val="101E33"/>
          </a:solidFill>
          <a:ln w="12700">
            <a:solidFill>
              <a:srgbClr val="1E38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697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1828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Top-5 Accuracy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103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differential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53328" y="914400"/>
            <a:ext cx="2697480" cy="1719072"/>
          </a:xfrm>
          <a:prstGeom prst="rect">
            <a:avLst/>
          </a:prstGeom>
          <a:solidFill>
            <a:srgbClr val="101E33"/>
          </a:solidFill>
          <a:ln w="12700">
            <a:solidFill>
              <a:srgbClr val="1E38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3328" y="914400"/>
            <a:ext cx="2697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00584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96.21%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44768" y="1828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CV F1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2103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+/- 0.14% stable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2788920"/>
            <a:ext cx="2697480" cy="1719072"/>
          </a:xfrm>
          <a:prstGeom prst="rect">
            <a:avLst/>
          </a:prstGeom>
          <a:solidFill>
            <a:srgbClr val="101E33"/>
          </a:solidFill>
          <a:ln w="12700">
            <a:solidFill>
              <a:srgbClr val="1E38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788920"/>
            <a:ext cx="2697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8803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38912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Link Pred AUC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9776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 pos + neg edges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788920"/>
            <a:ext cx="2697480" cy="1719072"/>
          </a:xfrm>
          <a:prstGeom prst="rect">
            <a:avLst/>
          </a:prstGeom>
          <a:solidFill>
            <a:srgbClr val="101E33"/>
          </a:solidFill>
          <a:ln w="12700">
            <a:solidFill>
              <a:srgbClr val="1E38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788920"/>
            <a:ext cx="2697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8803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12,671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291840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Indexed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9776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corpus retrieval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53328" y="2788920"/>
            <a:ext cx="2697480" cy="1719072"/>
          </a:xfrm>
          <a:prstGeom prst="rect">
            <a:avLst/>
          </a:prstGeom>
          <a:solidFill>
            <a:srgbClr val="101E33"/>
          </a:solidFill>
          <a:ln w="12700">
            <a:solidFill>
              <a:srgbClr val="1E38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2788920"/>
            <a:ext cx="269748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28803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144768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Patient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44768" y="39776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HPO+IBA+ClinVar+BabySeq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GeneGenie  |  From symptoms to diagnosis in seconds  |  MPSTME ML Project 2026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965</Words>
  <Application>Microsoft Office PowerPoint</Application>
  <PresentationFormat>On-screen Show (16:9)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GeneGenie — Rare Disease Intelligence System</dc:title>
  <dc:subject>PptxGenJS Presentation</dc:subject>
  <dc:creator>Ayush Manoj Garg</dc:creator>
  <cp:lastModifiedBy>Ayush Manoj Garg</cp:lastModifiedBy>
  <cp:revision>2</cp:revision>
  <dcterms:created xsi:type="dcterms:W3CDTF">2026-04-18T09:37:49Z</dcterms:created>
  <dcterms:modified xsi:type="dcterms:W3CDTF">2026-04-18T11:53:26Z</dcterms:modified>
</cp:coreProperties>
</file>